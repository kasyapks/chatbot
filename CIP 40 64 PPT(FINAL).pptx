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1" r:id="rId4"/>
  </p:sldMasterIdLst>
  <p:notesMasterIdLst>
    <p:notesMasterId r:id="rId17"/>
  </p:notesMasterIdLst>
  <p:handoutMasterIdLst>
    <p:handoutMasterId r:id="rId18"/>
  </p:handoutMasterIdLst>
  <p:sldIdLst>
    <p:sldId id="256" r:id="rId5"/>
    <p:sldId id="277" r:id="rId6"/>
    <p:sldId id="261" r:id="rId7"/>
    <p:sldId id="304" r:id="rId8"/>
    <p:sldId id="305" r:id="rId9"/>
    <p:sldId id="264" r:id="rId10"/>
    <p:sldId id="307" r:id="rId11"/>
    <p:sldId id="300" r:id="rId12"/>
    <p:sldId id="301" r:id="rId13"/>
    <p:sldId id="302" r:id="rId14"/>
    <p:sldId id="303" r:id="rId15"/>
    <p:sldId id="30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4/27/2026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9F74E-3B2E-4EB3-9B29-B4B77B08794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BAC26-3D8C-4AD7-B252-016CA76EE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843294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37751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40806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625469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10479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460620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35709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23241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06130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2665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20XX</a:t>
            </a:r>
            <a:endParaRPr lang="en-US" noProof="0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/>
              <a:t>Pitch Deck</a:t>
            </a:r>
            <a:endParaRPr lang="en-US" noProof="0" dirty="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7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673" r:id="rId13"/>
    <p:sldLayoutId id="2147483699" r:id="rId14"/>
    <p:sldLayoutId id="2147483700" r:id="rId15"/>
    <p:sldLayoutId id="2147483692" r:id="rId16"/>
    <p:sldLayoutId id="2147483681" r:id="rId17"/>
    <p:sldLayoutId id="214748369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anchiuniv.ac.in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BB2BB5-2B6E-A6C8-4E19-1DB6DD54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888"/>
            <a:ext cx="1651000" cy="1335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75A3D9-DDF7-5E2A-0E9B-19B210CE869F}"/>
              </a:ext>
            </a:extLst>
          </p:cNvPr>
          <p:cNvSpPr txBox="1"/>
          <p:nvPr/>
        </p:nvSpPr>
        <p:spPr>
          <a:xfrm>
            <a:off x="1651000" y="53028"/>
            <a:ext cx="9371227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i="0" u="none" strike="noStrike" cap="none" dirty="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SRI CHANDRASEKHARENDRA SARASWATHI VISWA MAHA VIDHYALAYA</a:t>
            </a:r>
          </a:p>
          <a:p>
            <a:pPr algn="ctr"/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(Deemed to be university u/s 3 of UGC act 1956)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(Accredited with “A” by NAAC)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Enathur, Kanchipuram – 631561. Tamilnadu</a:t>
            </a:r>
            <a:br>
              <a:rPr lang="en-US" sz="1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000" b="1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www.kanchiuniv.ac.in</a:t>
            </a:r>
            <a:endParaRPr lang="en-US" sz="1000" b="1" i="0" u="sng" strike="noStrike" cap="none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endParaRPr lang="en-US" sz="1400" b="1" u="sng" dirty="0">
              <a:solidFill>
                <a:schemeClr val="hlink"/>
              </a:solidFill>
              <a:latin typeface="Arial"/>
              <a:ea typeface="Calibri"/>
              <a:cs typeface="Arial"/>
              <a:sym typeface="Arial"/>
            </a:endParaRPr>
          </a:p>
          <a:p>
            <a:pPr algn="ctr"/>
            <a:r>
              <a:rPr lang="en-US" b="1" u="sng" dirty="0">
                <a:solidFill>
                  <a:srgbClr val="002060"/>
                </a:solidFill>
                <a:latin typeface="Arial"/>
                <a:ea typeface="Calibri"/>
                <a:cs typeface="Arial"/>
                <a:sym typeface="Arial"/>
              </a:rPr>
              <a:t>DEPARTMENT  OF  COMPUTER  SCIENCE AND ENGINEERING</a:t>
            </a:r>
            <a:br>
              <a:rPr lang="en-US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EAD7C0-7AB1-D53C-1C89-D00A9178EBAD}"/>
              </a:ext>
            </a:extLst>
          </p:cNvPr>
          <p:cNvSpPr txBox="1">
            <a:spLocks/>
          </p:cNvSpPr>
          <p:nvPr/>
        </p:nvSpPr>
        <p:spPr>
          <a:xfrm>
            <a:off x="226781" y="1514581"/>
            <a:ext cx="11845353" cy="52903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cap="none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Arial"/>
              </a:rPr>
              <a:t>BCSF186Z90-CIP Project Work</a:t>
            </a:r>
            <a:endParaRPr lang="en-US" sz="1800" cap="none" dirty="0">
              <a:effectLst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endParaRPr lang="en-US" sz="1000" b="0" i="0" u="none" dirty="0">
              <a:solidFill>
                <a:srgbClr val="92D050"/>
              </a:solidFill>
              <a:ea typeface="Arial"/>
              <a:cs typeface="Arial"/>
              <a:sym typeface="Arial"/>
            </a:endParaRPr>
          </a:p>
          <a:p>
            <a:pPr algn="ctr"/>
            <a:r>
              <a:rPr lang="en-US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AuraMed AI: SmartCare - Intelligent Patient Interaction System for Enhanced Healthcare Services</a:t>
            </a:r>
          </a:p>
          <a:p>
            <a:pPr algn="ctr"/>
            <a:endParaRPr lang="en-US" sz="1800" cap="none" dirty="0">
              <a:effectLst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algn="ctr"/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11239A040, Kadapanatham Srinidhi Kasyap </a:t>
            </a:r>
          </a:p>
          <a:p>
            <a:pPr algn="ctr"/>
            <a:r>
              <a:rPr lang="en-US" sz="2400" cap="none" dirty="0">
                <a:latin typeface="Arial" panose="020B0604020202020204" pitchFamily="34" charset="0"/>
                <a:cs typeface="Arial" panose="020B0604020202020204" pitchFamily="34" charset="0"/>
              </a:rPr>
              <a:t>11239A064,Oruganti Abhinav</a:t>
            </a:r>
          </a:p>
          <a:p>
            <a:pPr algn="ctr"/>
            <a:endParaRPr lang="en-US" sz="3200" b="0" i="0" u="none" dirty="0">
              <a:solidFill>
                <a:schemeClr val="dk1"/>
              </a:solidFill>
              <a:ea typeface="Arial"/>
              <a:cs typeface="Arial"/>
              <a:sym typeface="Arial"/>
            </a:endParaRPr>
          </a:p>
          <a:p>
            <a:pPr algn="ctr"/>
            <a:r>
              <a:rPr lang="en-US" sz="2800" b="0" i="0" u="none" cap="none" dirty="0">
                <a:solidFill>
                  <a:srgbClr val="00B0F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Guided By</a:t>
            </a:r>
            <a:endParaRPr lang="en-US" sz="2800" b="0" i="0" u="none" cap="none" dirty="0">
              <a:solidFill>
                <a:srgbClr val="92D05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  <a:p>
            <a:pPr algn="ctr"/>
            <a:r>
              <a:rPr lang="en-US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Dr.r.prema</a:t>
            </a:r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</a:p>
          <a:p>
            <a:pPr algn="ctr"/>
            <a:r>
              <a:rPr lang="en-U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assistant professor</a:t>
            </a:r>
            <a:endParaRPr lang="en-US" sz="2800" cap="none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800" dirty="0">
              <a:sym typeface="Arial"/>
            </a:endParaRPr>
          </a:p>
          <a:p>
            <a:r>
              <a:rPr lang="en-US" sz="2400" cap="none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University Review</a:t>
            </a:r>
            <a:r>
              <a:rPr lang="en-US" sz="2400" dirty="0">
                <a:solidFill>
                  <a:schemeClr val="dk1"/>
                </a:solidFill>
                <a:ea typeface="Arial"/>
                <a:cs typeface="Arial"/>
                <a:sym typeface="Arial"/>
              </a:rPr>
              <a:t>: 29-04-2026</a:t>
            </a:r>
            <a:endParaRPr lang="en-US" sz="2400" dirty="0"/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56" y="1129149"/>
            <a:ext cx="10983075" cy="4329239"/>
          </a:xfrm>
        </p:spPr>
        <p:txBody>
          <a:bodyPr>
            <a:normAutofit fontScale="25000" lnSpcReduction="20000"/>
          </a:bodyPr>
          <a:lstStyle/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r>
              <a:rPr lang="en-US" sz="9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: </a:t>
            </a:r>
            <a:endParaRPr lang="en-US" sz="9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symptom-based medical chatbot that interacts with users to collect health-related inputs.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symptoms using predefined rules and basic machine learning techniques.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possible condition suggestions along with precautionary advice.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simple and interactive interface for quick and easy usage.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to support early awareness and initial self-assessment.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scalability with future integration of NLP and larger datasets.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supportive tool and encourages professional medical consultation when needed. </a:t>
            </a: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23966"/>
            <a:ext cx="11976244" cy="1375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AuraMed AI: SmartCare - Intelligent Patient Interaction System for Enhanced Healthcare Services</a:t>
            </a:r>
            <a:endParaRPr lang="en-US" sz="3200" cap="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3CCFB4-DFFF-65C9-B866-9E3D36693D4F}"/>
              </a:ext>
            </a:extLst>
          </p:cNvPr>
          <p:cNvSpPr txBox="1"/>
          <p:nvPr/>
        </p:nvSpPr>
        <p:spPr>
          <a:xfrm>
            <a:off x="5707293" y="5569693"/>
            <a:ext cx="2702465" cy="64633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 Analysis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69E30-B786-93DF-00FF-4FB9D6108CFC}"/>
              </a:ext>
            </a:extLst>
          </p:cNvPr>
          <p:cNvSpPr txBox="1"/>
          <p:nvPr/>
        </p:nvSpPr>
        <p:spPr>
          <a:xfrm>
            <a:off x="215756" y="4890908"/>
            <a:ext cx="623365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 rtl="0" eaLnBrk="1" latinLnBrk="0" hangingPunct="1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cs typeface="Times New Roman"/>
              </a:rPr>
              <a:t>Keywords: </a:t>
            </a:r>
            <a:endParaRPr lang="en-IN" sz="2400" b="1" dirty="0">
              <a:solidFill>
                <a:schemeClr val="dk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63E18B-D23B-66FE-5EF9-25BAD685FDD5}"/>
              </a:ext>
            </a:extLst>
          </p:cNvPr>
          <p:cNvSpPr txBox="1"/>
          <p:nvPr/>
        </p:nvSpPr>
        <p:spPr>
          <a:xfrm>
            <a:off x="827314" y="5552627"/>
            <a:ext cx="25058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</a:p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B2B66-4E59-6F42-725D-6D0B5FD466BD}"/>
              </a:ext>
            </a:extLst>
          </p:cNvPr>
          <p:cNvSpPr txBox="1"/>
          <p:nvPr/>
        </p:nvSpPr>
        <p:spPr>
          <a:xfrm>
            <a:off x="3401406" y="5552627"/>
            <a:ext cx="21445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AuraMed Al: SmartCare - Intelligent Patient Interaction System for Enhanced Healthcare Services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people lack immediate access to basic medical guidance for common symptoms.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health issues often lead to unnecessary hospital visits, increasing system load.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identifying symptoms can worsen conditions due to lack of early awareness.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online resources are either too generic or difficult for non-medical users to interpret.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simple, interactive system that can guide users based on symptoms.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should provide quick, preliminary suggestions without replacing professional diagnosis.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is to ensure reliability, clarity, and ease of use while handling user inputs. </a:t>
            </a:r>
          </a:p>
          <a:p>
            <a:pPr marL="0" indent="0">
              <a:buNone/>
            </a:pPr>
            <a:endParaRPr lang="en-US"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AuraMed Al: SmartCare - Intelligent Patient Interaction System for Enhanced Healthcare Services</a:t>
            </a:r>
            <a:endParaRPr lang="en-US" sz="3200" cap="none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177990"/>
            <a:ext cx="10983075" cy="55434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4810A5-17B8-056B-F779-E0122B268448}"/>
              </a:ext>
            </a:extLst>
          </p:cNvPr>
          <p:cNvSpPr txBox="1">
            <a:spLocks/>
          </p:cNvSpPr>
          <p:nvPr/>
        </p:nvSpPr>
        <p:spPr>
          <a:xfrm>
            <a:off x="582204" y="1315091"/>
            <a:ext cx="11394040" cy="5188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Literature survey:</a:t>
            </a:r>
          </a:p>
          <a:p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pPr algn="l"/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/>
            </a:endParaRPr>
          </a:p>
          <a:p>
            <a:endParaRPr lang="en-US" sz="2400" b="1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prstClr val="black">
                  <a:lumMod val="75000"/>
                  <a:lumOff val="2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CF032C49-7577-421E-BDCA-E6044220E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82556"/>
              </p:ext>
            </p:extLst>
          </p:nvPr>
        </p:nvGraphicFramePr>
        <p:xfrm>
          <a:off x="1099440" y="1761423"/>
          <a:ext cx="10359568" cy="497774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89892">
                  <a:extLst>
                    <a:ext uri="{9D8B030D-6E8A-4147-A177-3AD203B41FA5}">
                      <a16:colId xmlns:a16="http://schemas.microsoft.com/office/drawing/2014/main" val="2150315867"/>
                    </a:ext>
                  </a:extLst>
                </a:gridCol>
                <a:gridCol w="2460816">
                  <a:extLst>
                    <a:ext uri="{9D8B030D-6E8A-4147-A177-3AD203B41FA5}">
                      <a16:colId xmlns:a16="http://schemas.microsoft.com/office/drawing/2014/main" val="3174700283"/>
                    </a:ext>
                  </a:extLst>
                </a:gridCol>
                <a:gridCol w="2718968">
                  <a:extLst>
                    <a:ext uri="{9D8B030D-6E8A-4147-A177-3AD203B41FA5}">
                      <a16:colId xmlns:a16="http://schemas.microsoft.com/office/drawing/2014/main" val="803796296"/>
                    </a:ext>
                  </a:extLst>
                </a:gridCol>
                <a:gridCol w="2589892">
                  <a:extLst>
                    <a:ext uri="{9D8B030D-6E8A-4147-A177-3AD203B41FA5}">
                      <a16:colId xmlns:a16="http://schemas.microsoft.com/office/drawing/2014/main" val="1182757155"/>
                    </a:ext>
                  </a:extLst>
                </a:gridCol>
              </a:tblGrid>
              <a:tr h="524577">
                <a:tc>
                  <a:txBody>
                    <a:bodyPr/>
                    <a:lstStyle/>
                    <a:p>
                      <a:r>
                        <a:rPr lang="en-IN" sz="1800" dirty="0"/>
                        <a:t>Author /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Methods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Key 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121906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da-DK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Ashwin A.S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+ NLP (T5 + Random Forest)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text + voice chatbot for symptom-based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high-quality dataset for accuracy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633181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Evani V.S.S. Lalitha 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improving healthcare accessibility using AI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real-world validation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6841845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it-IT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Ananditha Raghunath  (2026)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Chatbot (User Study)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Studies how Indian users interact and trust chatbot advice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Users often reject or doubt chatbot outputs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1743288"/>
                  </a:ext>
                </a:extLst>
              </a:tr>
              <a:tr h="795566">
                <a:tc>
                  <a:txBody>
                    <a:bodyPr/>
                    <a:lstStyle/>
                    <a:p>
                      <a:r>
                        <a:rPr lang="da-DK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Pragnya Ramjee (2024)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Chatbot (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ASHABot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community health workers with medical 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human expert support for accuracy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778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Alison Darcy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Therapy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chatbot for mental health support (Woebot)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specific domains, not full diagnosis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234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39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93634A1-7384-1854-3DA0-B2F14455A3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AuraMed Al: SmartCare - Intelligent Patient Interaction System for Enhanced Healthcare Services</a:t>
            </a:r>
            <a:endParaRPr lang="en-US" sz="3200" cap="none" dirty="0"/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AFF4A4A3-02F7-ECA2-D262-DD71EA8693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82885" y="1571946"/>
            <a:ext cx="10983075" cy="514952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buNone/>
            </a:pPr>
            <a:endParaRPr lang="en-US" sz="44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sz="2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AA4810A5-17B8-056B-F779-E0122B268448}"/>
              </a:ext>
            </a:extLst>
          </p:cNvPr>
          <p:cNvSpPr txBox="1">
            <a:spLocks/>
          </p:cNvSpPr>
          <p:nvPr/>
        </p:nvSpPr>
        <p:spPr>
          <a:xfrm>
            <a:off x="315075" y="1430594"/>
            <a:ext cx="11394040" cy="518845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  &amp;   its  Drawbacks </a:t>
            </a:r>
            <a:endParaRPr lang="en-US" sz="3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symptom checkers and medical websites provide general health information but require manual search.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chatbots rely on fixed symptom–disease mappings, inflexible for varied cases.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systems using machine learning or NLP offer better predictions but are complex and resource-intensive.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solutions struggle to handle multiple or overlapping symptoms effectively.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 based on individual user history and conditions.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large datasets affects performance and accuracy.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system guarantees medical reliability, often lacking real-time validation</a:t>
            </a:r>
            <a:r>
              <a:rPr lang="en-US" sz="3600" dirty="0"/>
              <a:t>. </a:t>
            </a:r>
          </a:p>
          <a:p>
            <a:pPr algn="l"/>
            <a:endParaRPr lang="en-US" sz="2600" dirty="0">
              <a:solidFill>
                <a:prstClr val="black"/>
              </a:solidFill>
              <a:ea typeface="Times New Roman"/>
              <a:cs typeface="Times New Roman"/>
              <a:sym typeface="Times New Roman"/>
            </a:endParaRPr>
          </a:p>
          <a:p>
            <a:pPr algn="l"/>
            <a:endParaRPr lang="en-US" sz="2400" dirty="0">
              <a:solidFill>
                <a:prstClr val="black"/>
              </a:solidFill>
              <a:ea typeface="Times New Roman"/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/>
              </a:solidFill>
              <a:cs typeface="Times New Roman"/>
              <a:sym typeface="Times New Roman"/>
            </a:endParaRPr>
          </a:p>
          <a:p>
            <a:pPr algn="l"/>
            <a:endParaRPr lang="en-US" sz="2600" b="1" dirty="0">
              <a:solidFill>
                <a:prstClr val="black">
                  <a:lumMod val="75000"/>
                  <a:lumOff val="25000"/>
                </a:prstClr>
              </a:solidFill>
              <a:cs typeface="Times New Roman" panose="02020603050405020304" pitchFamily="18" charset="0"/>
            </a:endParaRPr>
          </a:p>
          <a:p>
            <a:pPr algn="l"/>
            <a:endParaRPr lang="en-US" sz="2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2E0B29-CFAC-48BC-8960-5F22B8E70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369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C3221-5F04-4CA7-A86A-EEA8566A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8B23088-0B35-2A01-08F8-3A6DA3B7A0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0" y="802328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endParaRPr lang="en-US" sz="3200" cap="none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8607483-3FBE-A524-AD73-005CCD4A4C44}"/>
              </a:ext>
            </a:extLst>
          </p:cNvPr>
          <p:cNvSpPr txBox="1">
            <a:spLocks/>
          </p:cNvSpPr>
          <p:nvPr/>
        </p:nvSpPr>
        <p:spPr>
          <a:xfrm>
            <a:off x="398980" y="1744937"/>
            <a:ext cx="11394040" cy="5337725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8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chatbot for symptom analysis and basic health guidance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Maps user inputs to possible conditions using predefined logic </a:t>
            </a:r>
          </a:p>
          <a:p>
            <a:pPr algn="l"/>
            <a:r>
              <a:rPr lang="en-IN" sz="8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algn="l"/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Input collection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structuring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Engine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Rule mapping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storage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IN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Output generation </a:t>
            </a:r>
          </a:p>
          <a:p>
            <a:pPr algn="l"/>
            <a:r>
              <a:rPr lang="en-IN" sz="7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algn="l"/>
            <a:r>
              <a:rPr lang="en-IN" sz="8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Processing → Decision Engine → Knowledge Base → Response</a:t>
            </a:r>
          </a:p>
          <a:p>
            <a:pPr algn="l"/>
            <a:endParaRPr lang="en-US" sz="8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3D6B59-9C51-4B97-A08F-65F882CB69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99489" y="21304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AuraMed AI: SmartCare - Intelligent Patient Interaction System for Enhanced Healthcare Services</a:t>
            </a:r>
            <a:endParaRPr lang="en-US" sz="3200" cap="none" dirty="0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D3B9F4-BA42-4F44-9578-8344E5937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19770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AuraMed AI: SmartCare - Intelligent Patient Interaction System for Enhanced Healthcare Services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5245E17-7794-494F-BD13-785B1DDA6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906598"/>
            <a:ext cx="10515600" cy="6432796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 Input: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provides symptoms through the interface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 is cleaned, structured, and validated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Engine: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Rule-based logic is applied to interpret symptoms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Matching: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data is compared with the medical dataset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Generation: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generates condition insights and suggestions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Loop: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responses are used to refine and improve accuracy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1C374-C185-4CC1-8E7F-4C31DE5A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C8877-374C-48C8-9DFA-CA9B49CF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A0D16-376F-4F58-B12E-442EB091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250105-CB6D-7183-9696-6141D2B09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40" y="735004"/>
            <a:ext cx="9592626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b="1" dirty="0"/>
              <a:t>equirement Analysis:</a:t>
            </a:r>
            <a:r>
              <a:rPr lang="en-US" sz="2800" dirty="0"/>
              <a:t> Define scope, objectives, and user needs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Rule Definition: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Prepare medical data and decision logic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Plan architecture, modules, and data flow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and connect all components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Optimization: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Validate performance and refine system .</a:t>
            </a:r>
          </a:p>
        </p:txBody>
      </p:sp>
    </p:spTree>
    <p:extLst>
      <p:ext uri="{BB962C8B-B14F-4D97-AF65-F5344CB8AC3E}">
        <p14:creationId xmlns:p14="http://schemas.microsoft.com/office/powerpoint/2010/main" val="686549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 b="1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Result &amp; Analysis</a:t>
            </a:r>
          </a:p>
          <a:p>
            <a:endParaRPr lang="en-US" sz="3200" cap="non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5CB367-602D-3435-EE77-3795810C2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51" y="1315091"/>
            <a:ext cx="5466775" cy="24703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5BEFAC-4AEA-7A73-7774-8F773D496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819" y="1315090"/>
            <a:ext cx="5354630" cy="24703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8E3F069-5B6C-7809-EFCB-D82839CE4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51" y="4100052"/>
            <a:ext cx="5466775" cy="240137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FA241D3-D30A-CB7B-506D-3F8ADDF640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818" y="4100049"/>
            <a:ext cx="5354630" cy="240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65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project presents a structured, symptom-based chatbot for preliminary health guidance.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captures user inputs and provides condition suggestions using rule-based decision logic.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system emphasizes simplicity, interpretability, and ease of use over complex models.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improves access to basic health information and supports early self-assessment.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solution is limited to guidance and does not perform clinical diagnosis or prescription.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work provides a scalable base for future integration of advanced AI techniques. </a:t>
            </a: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cap="none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  </a:t>
            </a:r>
            <a:r>
              <a:rPr lang="en-IN" sz="3200" cap="none" dirty="0">
                <a:solidFill>
                  <a:schemeClr val="dk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Conclusion:</a:t>
            </a:r>
            <a:endParaRPr lang="en-US" sz="3200" cap="none" dirty="0">
              <a:solidFill>
                <a:schemeClr val="dk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760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5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Future Enhancement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22395FD-57B4-4025-9C7F-872635B52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619891"/>
            <a:ext cx="1264320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Triage Implementation: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Incorporation of  severity and duration parameters to prioritize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symptoms and guide users more effectively.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Reminder System: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Development of  automated reminders for medications,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hydration, and  follow-up actions.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Symptom Tracking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Enabling continuous tracking of user symptoms with basic trend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analysis for better monitoring.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NLP-Based Interaction Enhancement: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Improving chatbot capability to understand natural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unstructured user inputs.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Expansion: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Extending and regularly updating the medical dataset to improve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coverage and relevance.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Integration: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Providing direct linkage to doctor consultation for high-risk or unclear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cases. </a:t>
            </a:r>
          </a:p>
        </p:txBody>
      </p:sp>
    </p:spTree>
    <p:extLst>
      <p:ext uri="{BB962C8B-B14F-4D97-AF65-F5344CB8AC3E}">
        <p14:creationId xmlns:p14="http://schemas.microsoft.com/office/powerpoint/2010/main" val="5131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571946"/>
            <a:ext cx="10983075" cy="5149527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Aggarwal, R., et al. (2023).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Intelligence–Based Chatbots in Healthcare: A Systematic Review.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Medical Internet Research.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Babu, A. V., et al. (2024).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Symptom-Based Disease Prediction Using Machine Learning Techniques.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Procedia Computer Science. </a:t>
            </a:r>
          </a:p>
          <a:p>
            <a:pPr>
              <a:buFont typeface="+mj-lt"/>
              <a:buAutoNum type="arabicPeriod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Ramjee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et al. (2024).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ASHABot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Large Language Model-Based Health Assistant for Community Workers.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IEEE Access.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Bai, X., et al. (2025).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of AI Chatbots for Medical Decision Support.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Medical Internet Research. 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Lalitha, E. V. S. S., et al. (2025).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Healthcare Chatbot for Symptom Analysis and User Interaction.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International Journal of Innovative Research in Technology. </a:t>
            </a:r>
          </a:p>
          <a:p>
            <a:pPr marL="0" indent="0">
              <a:buNone/>
            </a:pPr>
            <a:endParaRPr lang="en-IN" sz="1600" dirty="0"/>
          </a:p>
          <a:p>
            <a:pPr marL="273050" indent="-273050" algn="just">
              <a:lnSpc>
                <a:spcPct val="150000"/>
              </a:lnSpc>
              <a:spcBef>
                <a:spcPts val="0"/>
              </a:spcBef>
              <a:buClr>
                <a:srgbClr val="0BD0D9"/>
              </a:buClr>
              <a:buSzPts val="2280"/>
              <a:buNone/>
            </a:pPr>
            <a:endParaRPr lang="en-US" sz="2600" b="1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marL="273050" marR="0" lvl="0" indent="-2730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BD0D9"/>
              </a:buClr>
              <a:buSzPts val="2280"/>
              <a:buFont typeface="Noto Sans Symbols"/>
              <a:buNone/>
            </a:pP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E65C8CA-5455-20A0-9D14-FFF1BB28BDA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15756" y="1365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cap="non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5B834B-E8A9-547A-E610-A6979A3A107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8156" y="288924"/>
            <a:ext cx="11394041" cy="1178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166378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03016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71af3243-3dd4-4a8d-8c0d-dd76da1f02a5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</TotalTime>
  <Words>1121</Words>
  <Application>Microsoft Office PowerPoint</Application>
  <PresentationFormat>Widescreen</PresentationFormat>
  <Paragraphs>172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Noto Sans Symbols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AuraMed AI: SmartCare - Intelligent Patient Interaction System for Enhanced Healthcare Services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DHURGA SHREE.K.C</dc:creator>
  <cp:lastModifiedBy>Kingslayer De Conquistador</cp:lastModifiedBy>
  <cp:revision>72</cp:revision>
  <dcterms:created xsi:type="dcterms:W3CDTF">2025-03-05T00:42:20Z</dcterms:created>
  <dcterms:modified xsi:type="dcterms:W3CDTF">2026-04-27T15:52:32Z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